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04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0711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775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5630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716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209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753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016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1564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223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299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09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1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82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GÉNÉRALE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Strategy &amp; Project Proposal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572000" cy="36576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9344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Société Générale Universal Registration Document 2025 (Annual Financial Report 2024). An analysis of the relational database solution best suited for one of Europe's leading banking groups.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334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Source: Universal Registration Document 2025 — Societe Generale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2423160" cy="2971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417320"/>
            <a:ext cx="2423160" cy="36576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08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Company History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0" y="223113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Key Figures 2024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25877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3 Core Businesses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Database Type — 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0" y="3300984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SQL vs NoSQL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Project Justification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401421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Data Model &amp; Conclusion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 / 8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4101737" y="4617720"/>
            <a:ext cx="4084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Robert Koly KALIVOGUI</a:t>
            </a:r>
          </a:p>
          <a:p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022" y="295953"/>
            <a:ext cx="2314898" cy="600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 years of banking excellence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4114800" cy="36576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5331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5331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08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" y="1719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decree on 4 May — industrialists &amp; financiers. Mission: 'promote the development of trade and industry in France'.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5331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5331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08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branch opened. International expansion begins across Europe, Americas &amp; North Africa.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5915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5915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414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" y="2724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Nationalised by law. Played a key role in financing France's post-war reconstruction.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5915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414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64608" y="2724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Privatised via successful IPO with dedicated share offer to staff.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36499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36499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419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Fimatex (→ Boursorama → BoursoBank), now France's leading online bank.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364992"/>
            <a:ext cx="4114800" cy="86868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364992"/>
            <a:ext cx="45720" cy="86868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419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64608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Societe Generale &amp; Crédit du Nord networks. Created Ayvens (ALD + LeasePlan), global mobility leader.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425696"/>
            <a:ext cx="84124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425696"/>
            <a:ext cx="45720" cy="34747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256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~119,000 employees across 62 countries — serving 26 million clients worldwide.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 / 8</a:t>
            </a:r>
            <a:endParaRPr lang="en-US" sz="9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754" y="68639"/>
            <a:ext cx="2141518" cy="524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KEY FIGURES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Results — Universal Registration Document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€26.8Bn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9768" y="1865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Revenues (NBI)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+6.7% vs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789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7899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20700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€4.2Bn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82696" y="1865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Net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82696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+69% vs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789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7899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20700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35624" y="1865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Capital Ratio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35624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IFRS 9 phasing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5351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815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29768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4050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62 countries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535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5351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0815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282696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82696" y="4050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Corporate, institutional &amp; individual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9535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53512"/>
            <a:ext cx="2697480" cy="5486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30815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35624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Cost/Income Ratio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35624" y="4050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from 73.8% in 2023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</a:rPr>
              <a:t>3 / 8</a:t>
            </a:r>
            <a:endParaRPr lang="en-US" sz="9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34" y="77724"/>
            <a:ext cx="2002972" cy="521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BUSINESS 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diversified banking model — as reported in the 2024 Annual Report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18872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54864" cy="118872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Retail, Private Banking &amp; Insurance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€8.7Bn NBI (+7.5%)   |   35,000 staff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0" y="1179576"/>
            <a:ext cx="73152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11556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network: ~9M clients, 1,400 branches across 11 regions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15000" y="1408176"/>
            <a:ext cx="73152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34416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BoursoBank: 7.2M clients — France's #1 online bank (lowest-cost for 17 years)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15000" y="1636776"/>
            <a:ext cx="73152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57276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Banking: €154Bn assets under management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15000" y="1865376"/>
            <a:ext cx="73152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0136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Assurances: €18.3Bn gross premiums, €146Bn life insurance outstandings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15000" y="2093976"/>
            <a:ext cx="73152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02996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17M clients &amp; cost/income below 60% by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95728"/>
            <a:ext cx="8412480" cy="118872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95728"/>
            <a:ext cx="54864" cy="1188720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597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Banking &amp; Investor Solutions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743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€10.1Bn NBI (+5.0%)   |   15,000 staff in 33 countries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496312"/>
            <a:ext cx="73152" cy="73152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4323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European corporate &amp; investment bank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15000" y="2724912"/>
            <a:ext cx="73152" cy="73152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6609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 in Equity Derivatives &amp; Structured Finance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15000" y="2953512"/>
            <a:ext cx="73152" cy="73152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8895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custodian in Europe (€4,921Bn assets under custody)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3182112"/>
            <a:ext cx="73152" cy="73152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1181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JV: global leader in equity research, 1,000+ companies covered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3410712"/>
            <a:ext cx="73152" cy="73152"/>
          </a:xfrm>
          <a:prstGeom prst="rect">
            <a:avLst/>
          </a:prstGeom>
          <a:solidFill>
            <a:srgbClr val="C0000A"/>
          </a:solidFill>
          <a:ln w="12700">
            <a:solidFill>
              <a:srgbClr val="C00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3467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in digital assets via SG Forge subsidiary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18872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712464"/>
            <a:ext cx="54864" cy="1188720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76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Mobility, International Retail Banking &amp; Financial Services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405993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€8.5Bn NBI (-0.6%)   |   43,000 staff, 52 countries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813048"/>
            <a:ext cx="73152" cy="73152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74904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Ayvens: world #1 in operational vehicle leasing — 3.3M vehicles, 42 countries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15000" y="4041648"/>
            <a:ext cx="73152" cy="73152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97764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Komercni Banka (CZ): 3rd largest Czech bank, 2.2M clients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15000" y="4270248"/>
            <a:ext cx="73152" cy="73152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420624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(Romania): 3rd largest, ~2M clients, 400 branches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715000" y="4498848"/>
            <a:ext cx="73152" cy="73152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443484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Finance: 4th in Europe — €23.1Bn outstandings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15000" y="4727448"/>
            <a:ext cx="73152" cy="73152"/>
          </a:xfrm>
          <a:prstGeom prst="rect">
            <a:avLst/>
          </a:prstGeom>
          <a:solidFill>
            <a:srgbClr val="8A0008"/>
          </a:solidFill>
          <a:ln w="12700">
            <a:solidFill>
              <a:srgbClr val="8A00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466344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sub-Saharan Africa: Côte d'Ivoire (#1), Senegal (#1), Cameroon (#2)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</a:rPr>
              <a:t>4 / 8</a:t>
            </a:r>
            <a:endParaRPr lang="en-US" sz="9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89" y="201169"/>
            <a:ext cx="2176352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A8000E"/>
          </a:solidFill>
          <a:ln w="12700">
            <a:solidFill>
              <a:srgbClr val="A80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TYPE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— 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54864" cy="73152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795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2646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organises data into structured tables linked through defined relationships. SQL (Structured Query Language) is the standard for querying and managing this data. For a bank like Société Générale — processing millions of transactions daily across 62 countries — it is the natural and necessary choice.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54864" cy="11155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Integrity (ACID)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41401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banking operation across SG's 26M clients must be Atomic, Consistent, Isolated and Durable — guaranteed by SQL transactions.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712" y="201168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011680"/>
            <a:ext cx="54864" cy="11155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Complex Relationships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41401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→ accounts → transactions → branches → advisors: SG's data model is deeply relational by nature — perfect for SQL.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10128"/>
            <a:ext cx="54864" cy="11155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Regulatory Reporting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37124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III, GDPR, AMF, ECB — SG faces strict regulators requiring auditable, traceable data that SQL databases handle natively.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310128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310128"/>
            <a:ext cx="54864" cy="11155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at Scale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7124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BoursoBank's 7.2M clients to GBIS's €4,921Bn custody assets — SQL joins &amp; aggregations power all financial reporting.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RDBMS used in banking:   Oracle DB  •  Microsoft SQL Server  •  PostgreSQL  •  IBM Db2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</a:rPr>
              <a:t>5 / 8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79" y="69967"/>
            <a:ext cx="2142310" cy="51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— Why SQL for Société Générale?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for a global financial institution handling millions of daily transactions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1024128"/>
            <a:ext cx="2743200" cy="36576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24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 (Relational)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024128"/>
            <a:ext cx="274320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024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2103120" cy="55778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481328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481328"/>
            <a:ext cx="45720" cy="55778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81328"/>
            <a:ext cx="2514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ACID — critical for SG's €26.8Bn revenue flows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1481328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481328"/>
            <a:ext cx="2560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— insufficient for banking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093976"/>
            <a:ext cx="2103120" cy="55778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93976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093976"/>
            <a:ext cx="2743200" cy="5577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093976"/>
            <a:ext cx="45720" cy="55778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093976"/>
            <a:ext cx="2514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tables: clients, accounts, trades...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2093976"/>
            <a:ext cx="2743200" cy="5577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093976"/>
            <a:ext cx="2560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documents — poorly suited to financial models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706624"/>
            <a:ext cx="2103120" cy="55778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06624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2706624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706624"/>
            <a:ext cx="45720" cy="55778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706624"/>
            <a:ext cx="2514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joins link SG's 26M clients to all their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0" y="2706624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706624"/>
            <a:ext cx="2560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Denormalised — duplicates data, creates inconsistencies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319272"/>
            <a:ext cx="2103120" cy="55778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19272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319272"/>
            <a:ext cx="2743200" cy="5577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319272"/>
            <a:ext cx="45720" cy="55778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319272"/>
            <a:ext cx="2514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 — meets Basel III, AMF, GDPR requirements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3319272"/>
            <a:ext cx="2743200" cy="5577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319272"/>
            <a:ext cx="2560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audit, less suited to regulators' demands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2103120" cy="55778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0" y="3931920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3931920"/>
            <a:ext cx="45720" cy="557784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3931920"/>
            <a:ext cx="2514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 across SG's multi-country operations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3931920"/>
            <a:ext cx="2743200" cy="55778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931920"/>
            <a:ext cx="2560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multi-table analytics capability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54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SQL is the only viable choice for a regulated, transaction-intensive global bank like Société Générale.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370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</a:rPr>
              <a:t>6 / 8</a:t>
            </a:r>
            <a:endParaRPr lang="en-US" sz="9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83325"/>
            <a:ext cx="1938116" cy="502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JUSTIFICATION &amp; GOALS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relational database — grounded in SG's 2024 data reality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402336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72184"/>
            <a:ext cx="402336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Transaction Volume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processes transactions for 26M clients across 62 countries. ACID properties (Atomicity, Consistency, Isolation, Durability) are non-negotiable for financial integrity.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402336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532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80720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must comply with Basel III/CRR3, GDPR, CSRD, ECB requirements and AMF rules — all requiring auditable, structured, traceable data that SQL provides natively.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402336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538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Complexity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81304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BoursoBank (7.2M clients), Ayvens (3.3M vehicles), GBIS (€4,921Bn custody), Private Banking (€154Bn AUM) — all highly relational data sets requiring robust joins and referential integrity.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69848"/>
            <a:ext cx="4069080" cy="320040"/>
          </a:xfrm>
          <a:prstGeom prst="rect">
            <a:avLst/>
          </a:prstGeom>
          <a:solidFill>
            <a:srgbClr val="1C1C1C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6984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069080" cy="2880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536192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relational SQL database to centralise and manage Société Générale's customer data, financial transactions and cross-entity reporting — supporting both operational efficiency and regulatory compliance.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331720"/>
            <a:ext cx="3657600" cy="2743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487168"/>
            <a:ext cx="201168" cy="2011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43230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core entities: clients, accounts, transactions, branches, advisors, products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2971800"/>
            <a:ext cx="201168" cy="2011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91693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referential integrity across all entities via foreign key constraints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456432"/>
            <a:ext cx="201168" cy="2011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40156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multi-country reporting aligned with SG's 62-country footprint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941064"/>
            <a:ext cx="201168" cy="2011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88620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sensitive data: encryption, role-based access, full audit trail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425696"/>
            <a:ext cx="201168" cy="201168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437083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compliance: Basel III CRR3, GDPR, CSRD, AMF regulatory standards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617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</a:rPr>
              <a:t>7 / 8</a:t>
            </a:r>
            <a:endParaRPr lang="en-US" sz="9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20" y="164592"/>
            <a:ext cx="2314898" cy="600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 structure based on SG's real business entities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first_name, last_name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email, phone, 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(retail/corporate)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107899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78992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44475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currency, balance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opened_at, 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08192" y="107899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1078992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9632" y="144475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currency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timestamp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country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27248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 city, region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business_line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opened_since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18688" y="31272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127248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4930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full_name, specialty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08192" y="31272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3127248"/>
            <a:ext cx="2743200" cy="320040"/>
          </a:xfrm>
          <a:prstGeom prst="rect">
            <a:avLst/>
          </a:prstGeom>
          <a:solidFill>
            <a:srgbClr val="E30614"/>
          </a:solidFill>
          <a:ln w="12700">
            <a:solidFill>
              <a:srgbClr val="E30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930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type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business_line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rate, currency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regulated (bool)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0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relational database is the optimal and only viable choice for Société Générale — ensuring ACID compliance, regulatory auditability, and analytical power across its 62-country, 26M-client global operations.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617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</a:rPr>
              <a:t>8 / 8</a:t>
            </a:r>
            <a:endParaRPr lang="en-US" sz="9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62" y="47393"/>
            <a:ext cx="2314898" cy="600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59" y="1785257"/>
            <a:ext cx="6243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THANK YOU FOR YOUR  ATTENTION 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43" y="399327"/>
            <a:ext cx="2314898" cy="60015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820297" y="4844839"/>
            <a:ext cx="1705239" cy="273844"/>
          </a:xfrm>
        </p:spPr>
        <p:txBody>
          <a:bodyPr/>
          <a:lstStyle/>
          <a:p>
            <a:r>
              <a:rPr lang="en-US" dirty="0" smtClean="0"/>
              <a:t>9 /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001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546</TotalTime>
  <Words>1239</Words>
  <Application>Microsoft Office PowerPoint</Application>
  <PresentationFormat>On-screen Show (16:9)</PresentationFormat>
  <Paragraphs>180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 Générale – Database Project (2024 Annual Report)</dc:title>
  <dc:subject>PptxGenJS Presentation</dc:subject>
  <dc:creator>PptxGenJS</dc:creator>
  <cp:lastModifiedBy>ASUS</cp:lastModifiedBy>
  <cp:revision>7</cp:revision>
  <dcterms:created xsi:type="dcterms:W3CDTF">2026-04-09T22:59:20Z</dcterms:created>
  <dcterms:modified xsi:type="dcterms:W3CDTF">2026-04-10T08:09:47Z</dcterms:modified>
</cp:coreProperties>
</file>